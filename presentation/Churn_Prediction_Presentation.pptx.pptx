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Semi-Bold" charset="1" panose="00000700000000000000"/>
      <p:regular r:id="rId13"/>
    </p:embeddedFont>
    <p:embeddedFont>
      <p:font typeface="DM Sans Bold" charset="1" panose="00000000000000000000"/>
      <p:regular r:id="rId14"/>
    </p:embeddedFont>
    <p:embeddedFont>
      <p:font typeface="Raleway Bold Italics" charset="1" panose="00000000000000000000"/>
      <p:regular r:id="rId15"/>
    </p:embeddedFont>
    <p:embeddedFont>
      <p:font typeface="Montserrat Heavy" charset="1" panose="00000A00000000000000"/>
      <p:regular r:id="rId16"/>
    </p:embeddedFont>
    <p:embeddedFont>
      <p:font typeface="Calibri (MS) Bold" charset="1" panose="020F0702030404030204"/>
      <p:regular r:id="rId17"/>
    </p:embeddedFont>
    <p:embeddedFont>
      <p:font typeface="Calibri (MS) Italics" charset="1" panose="020F05020202040A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4092">
            <a:off x="-3513169" y="8339629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0" y="0"/>
                </a:moveTo>
                <a:lnTo>
                  <a:pt x="19149891" y="0"/>
                </a:lnTo>
                <a:lnTo>
                  <a:pt x="19149891" y="6989710"/>
                </a:lnTo>
                <a:lnTo>
                  <a:pt x="0" y="698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828919">
            <a:off x="1076036" y="-4819412"/>
            <a:ext cx="19149891" cy="6989710"/>
          </a:xfrm>
          <a:custGeom>
            <a:avLst/>
            <a:gdLst/>
            <a:ahLst/>
            <a:cxnLst/>
            <a:rect r="r" b="b" t="t" l="l"/>
            <a:pathLst>
              <a:path h="6989710" w="19149891">
                <a:moveTo>
                  <a:pt x="19149891" y="6989710"/>
                </a:moveTo>
                <a:lnTo>
                  <a:pt x="0" y="6989710"/>
                </a:lnTo>
                <a:lnTo>
                  <a:pt x="0" y="0"/>
                </a:lnTo>
                <a:lnTo>
                  <a:pt x="19149891" y="0"/>
                </a:lnTo>
                <a:lnTo>
                  <a:pt x="19149891" y="698971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076543" y="1892947"/>
            <a:ext cx="658167" cy="595940"/>
          </a:xfrm>
          <a:custGeom>
            <a:avLst/>
            <a:gdLst/>
            <a:ahLst/>
            <a:cxnLst/>
            <a:rect r="r" b="b" t="t" l="l"/>
            <a:pathLst>
              <a:path h="595940" w="658167">
                <a:moveTo>
                  <a:pt x="0" y="0"/>
                </a:moveTo>
                <a:lnTo>
                  <a:pt x="658167" y="0"/>
                </a:lnTo>
                <a:lnTo>
                  <a:pt x="658167" y="595940"/>
                </a:lnTo>
                <a:lnTo>
                  <a:pt x="0" y="5959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76543" y="3354279"/>
            <a:ext cx="14152400" cy="4094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9"/>
              </a:lnSpc>
            </a:pPr>
            <a:r>
              <a:rPr lang="en-US" sz="1106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Customer Churn Prediction &amp;</a:t>
            </a:r>
          </a:p>
          <a:p>
            <a:pPr algn="l">
              <a:lnSpc>
                <a:spcPts val="1050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047841" y="1950097"/>
            <a:ext cx="11946290" cy="87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Data Science &amp; Machine Learning Internship Project  |  IBM Telco Customer Churn Dataset</a:t>
            </a:r>
          </a:p>
          <a:p>
            <a:pPr algn="l">
              <a:lnSpc>
                <a:spcPts val="226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76543" y="7493132"/>
            <a:ext cx="5482510" cy="66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2"/>
              </a:lnSpc>
            </a:pPr>
            <a:r>
              <a:rPr lang="en-US" sz="5181" i="true" b="true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Retention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76543" y="5951268"/>
            <a:ext cx="9506012" cy="142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9"/>
              </a:lnSpc>
            </a:pPr>
            <a:r>
              <a:rPr lang="en-US" sz="11062" b="true">
                <a:solidFill>
                  <a:srgbClr val="36E9FD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Intelligent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09410" y="9315450"/>
            <a:ext cx="11946290" cy="30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67"/>
              </a:lnSpc>
            </a:pPr>
            <a:r>
              <a:rPr lang="en-US" sz="238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Presented by : Arti Reddy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364226"/>
            <a:ext cx="16426453" cy="103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Problem &amp; Financial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264034"/>
            <a:ext cx="16426453" cy="54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101" i="true">
                <a:solidFill>
                  <a:srgbClr val="70707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Why churn prediction is a high-leverage lever for the business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6454" y="2120494"/>
            <a:ext cx="3720513" cy="2073307"/>
            <a:chOff x="0" y="0"/>
            <a:chExt cx="4960684" cy="2764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60747" cy="2764409"/>
            </a:xfrm>
            <a:custGeom>
              <a:avLst/>
              <a:gdLst/>
              <a:ahLst/>
              <a:cxnLst/>
              <a:rect r="r" b="b" t="t" l="l"/>
              <a:pathLst>
                <a:path h="2764409" w="4960747">
                  <a:moveTo>
                    <a:pt x="0" y="0"/>
                  </a:moveTo>
                  <a:lnTo>
                    <a:pt x="4960747" y="0"/>
                  </a:lnTo>
                  <a:lnTo>
                    <a:pt x="4960747" y="2764409"/>
                  </a:lnTo>
                  <a:lnTo>
                    <a:pt x="0" y="2764409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4960684" cy="2859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26.5%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707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 Churn Rate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728572" y="2120494"/>
            <a:ext cx="3720513" cy="2073307"/>
            <a:chOff x="0" y="0"/>
            <a:chExt cx="4960684" cy="27644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60747" cy="2764409"/>
            </a:xfrm>
            <a:custGeom>
              <a:avLst/>
              <a:gdLst/>
              <a:ahLst/>
              <a:cxnLst/>
              <a:rect r="r" b="b" t="t" l="l"/>
              <a:pathLst>
                <a:path h="2764409" w="4960747">
                  <a:moveTo>
                    <a:pt x="0" y="0"/>
                  </a:moveTo>
                  <a:lnTo>
                    <a:pt x="4960747" y="0"/>
                  </a:lnTo>
                  <a:lnTo>
                    <a:pt x="4960747" y="2764409"/>
                  </a:lnTo>
                  <a:lnTo>
                    <a:pt x="0" y="2764409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4960684" cy="2859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7,043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707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Analyzed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40689" y="2120494"/>
            <a:ext cx="3720513" cy="2073307"/>
            <a:chOff x="0" y="0"/>
            <a:chExt cx="4960684" cy="2764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60747" cy="2764409"/>
            </a:xfrm>
            <a:custGeom>
              <a:avLst/>
              <a:gdLst/>
              <a:ahLst/>
              <a:cxnLst/>
              <a:rect r="r" b="b" t="t" l="l"/>
              <a:pathLst>
                <a:path h="2764409" w="4960747">
                  <a:moveTo>
                    <a:pt x="0" y="0"/>
                  </a:moveTo>
                  <a:lnTo>
                    <a:pt x="4960747" y="0"/>
                  </a:lnTo>
                  <a:lnTo>
                    <a:pt x="4960747" y="2764409"/>
                  </a:lnTo>
                  <a:lnTo>
                    <a:pt x="0" y="2764409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4960684" cy="2859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1,869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707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Lost to Churn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52807" y="2120494"/>
            <a:ext cx="4338218" cy="2073307"/>
            <a:chOff x="0" y="0"/>
            <a:chExt cx="5784291" cy="27644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84342" cy="2764409"/>
            </a:xfrm>
            <a:custGeom>
              <a:avLst/>
              <a:gdLst/>
              <a:ahLst/>
              <a:cxnLst/>
              <a:rect r="r" b="b" t="t" l="l"/>
              <a:pathLst>
                <a:path h="2764409" w="5784342">
                  <a:moveTo>
                    <a:pt x="0" y="0"/>
                  </a:moveTo>
                  <a:lnTo>
                    <a:pt x="5784342" y="0"/>
                  </a:lnTo>
                  <a:lnTo>
                    <a:pt x="5784342" y="2764409"/>
                  </a:lnTo>
                  <a:lnTo>
                    <a:pt x="0" y="2764409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5784291" cy="2859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5-25x</a:t>
              </a:r>
            </a:p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70707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Cost to Acquire vs. Retain*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5048" y="4567971"/>
            <a:ext cx="16014659" cy="451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401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401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revenue problem: </a:t>
            </a:r>
            <a:r>
              <a:rPr lang="en-US" sz="2401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roughly 1 in 4 customers churns, representing a continuous, compounding drain on recurring subscription revenue.</a:t>
            </a:r>
          </a:p>
          <a:p>
            <a:pPr algn="l">
              <a:lnSpc>
                <a:spcPts val="3228"/>
              </a:lnSpc>
            </a:pPr>
            <a:r>
              <a:rPr lang="en-US" sz="2401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401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acquisition-cost problem: </a:t>
            </a:r>
            <a:r>
              <a:rPr lang="en-US" sz="2401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replacing a lost customer costs significantly more than retaining one — every churned customer is a doubly expensive loss.</a:t>
            </a:r>
          </a:p>
          <a:p>
            <a:pPr algn="l">
              <a:lnSpc>
                <a:spcPts val="3228"/>
              </a:lnSpc>
            </a:pPr>
            <a:r>
              <a:rPr lang="en-US" sz="2401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401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status-quo problem: </a:t>
            </a:r>
            <a:r>
              <a:rPr lang="en-US" sz="2401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without predictive scoring, retention efforts are either wasted on blanket-wide offers or applied too late, after a customer has already decided to leave.</a:t>
            </a:r>
          </a:p>
          <a:p>
            <a:pPr algn="l">
              <a:lnSpc>
                <a:spcPts val="3228"/>
              </a:lnSpc>
            </a:pPr>
            <a:r>
              <a:rPr lang="en-US" sz="2401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401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opportunity: </a:t>
            </a:r>
            <a:r>
              <a:rPr lang="en-US" sz="2401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a model that reliably flags at-risk customers early lets the business target retention spend where it has the highest return.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5048" y="9391374"/>
            <a:ext cx="15602855" cy="377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501" i="true">
                <a:solidFill>
                  <a:srgbClr val="70707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*Widely cited industry benchmark for customer acquisition vs. retention cost.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048" y="9771526"/>
            <a:ext cx="10798502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Churn Prediction &amp; Intelligent Retention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75312" y="9771526"/>
            <a:ext cx="503453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364226"/>
            <a:ext cx="16426453" cy="103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Exploratory Data Analysis — Key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264034"/>
            <a:ext cx="16426453" cy="54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101" i="true">
                <a:solidFill>
                  <a:srgbClr val="70707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What the data reveals about who churns, and why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86333" y="3648046"/>
            <a:ext cx="4941618" cy="3685280"/>
            <a:chOff x="0" y="0"/>
            <a:chExt cx="6588823" cy="4913706"/>
          </a:xfrm>
        </p:grpSpPr>
        <p:sp>
          <p:nvSpPr>
            <p:cNvPr name="Freeform 5" id="5" descr="plot_01_churn_distribution.png"/>
            <p:cNvSpPr/>
            <p:nvPr/>
          </p:nvSpPr>
          <p:spPr>
            <a:xfrm flipH="false" flipV="false" rot="0">
              <a:off x="0" y="0"/>
              <a:ext cx="6588887" cy="4913757"/>
            </a:xfrm>
            <a:custGeom>
              <a:avLst/>
              <a:gdLst/>
              <a:ahLst/>
              <a:cxnLst/>
              <a:rect r="r" b="b" t="t" l="l"/>
              <a:pathLst>
                <a:path h="4913757" w="6588887">
                  <a:moveTo>
                    <a:pt x="0" y="0"/>
                  </a:moveTo>
                  <a:lnTo>
                    <a:pt x="6588887" y="0"/>
                  </a:lnTo>
                  <a:lnTo>
                    <a:pt x="6588887" y="4913757"/>
                  </a:lnTo>
                  <a:lnTo>
                    <a:pt x="0" y="4913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902490" y="3365173"/>
            <a:ext cx="11667715" cy="4251027"/>
            <a:chOff x="0" y="0"/>
            <a:chExt cx="15556954" cy="5668035"/>
          </a:xfrm>
        </p:grpSpPr>
        <p:sp>
          <p:nvSpPr>
            <p:cNvPr name="Freeform 7" id="7" descr="plot_04_churn_by_contract_payment.png"/>
            <p:cNvSpPr/>
            <p:nvPr/>
          </p:nvSpPr>
          <p:spPr>
            <a:xfrm flipH="false" flipV="false" rot="0">
              <a:off x="0" y="0"/>
              <a:ext cx="15556992" cy="5668010"/>
            </a:xfrm>
            <a:custGeom>
              <a:avLst/>
              <a:gdLst/>
              <a:ahLst/>
              <a:cxnLst/>
              <a:rect r="r" b="b" t="t" l="l"/>
              <a:pathLst>
                <a:path h="5668010" w="15556992">
                  <a:moveTo>
                    <a:pt x="0" y="0"/>
                  </a:moveTo>
                  <a:lnTo>
                    <a:pt x="15556992" y="0"/>
                  </a:lnTo>
                  <a:lnTo>
                    <a:pt x="15556992" y="5668010"/>
                  </a:lnTo>
                  <a:lnTo>
                    <a:pt x="0" y="56680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5048" y="8970045"/>
            <a:ext cx="16014659" cy="93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26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Contract type dominates: </a:t>
            </a:r>
            <a:r>
              <a:rPr lang="en-US" sz="2026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month-to-month customers churn far more than one- or two-year contract holders — the single strongest churn signal in the data.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5048" y="9771526"/>
            <a:ext cx="10798502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Churn Prediction &amp; Intelligent Retention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975312" y="9771526"/>
            <a:ext cx="503453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364226"/>
            <a:ext cx="16426453" cy="103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Machine Learning Pipeline &amp; Feature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264034"/>
            <a:ext cx="16426453" cy="54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101" i="true">
                <a:solidFill>
                  <a:srgbClr val="70707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From raw data to a production-ready feature matrix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6454" y="2395023"/>
            <a:ext cx="4063679" cy="3583248"/>
            <a:chOff x="0" y="0"/>
            <a:chExt cx="5418239" cy="47776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18201" cy="4777613"/>
            </a:xfrm>
            <a:custGeom>
              <a:avLst/>
              <a:gdLst/>
              <a:ahLst/>
              <a:cxnLst/>
              <a:rect r="r" b="b" t="t" l="l"/>
              <a:pathLst>
                <a:path h="4777613" w="5418201">
                  <a:moveTo>
                    <a:pt x="0" y="0"/>
                  </a:moveTo>
                  <a:lnTo>
                    <a:pt x="5418201" y="0"/>
                  </a:lnTo>
                  <a:lnTo>
                    <a:pt x="5418201" y="4777613"/>
                  </a:lnTo>
                  <a:lnTo>
                    <a:pt x="0" y="4777613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418239" cy="483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Data Hygiene</a:t>
              </a:r>
            </a:p>
            <a:p>
              <a:pPr algn="l">
                <a:lnSpc>
                  <a:spcPts val="2589"/>
                </a:lnSpc>
              </a:pPr>
              <a:r>
                <a:rPr lang="en-US" sz="1876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Coerce TotalCharges to numeric; impute 11 blank-string values (new customers, tenure = 0) as 0.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071739" y="2395023"/>
            <a:ext cx="4063679" cy="3583248"/>
            <a:chOff x="0" y="0"/>
            <a:chExt cx="5418239" cy="47776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18201" cy="4777613"/>
            </a:xfrm>
            <a:custGeom>
              <a:avLst/>
              <a:gdLst/>
              <a:ahLst/>
              <a:cxnLst/>
              <a:rect r="r" b="b" t="t" l="l"/>
              <a:pathLst>
                <a:path h="4777613" w="5418201">
                  <a:moveTo>
                    <a:pt x="0" y="0"/>
                  </a:moveTo>
                  <a:lnTo>
                    <a:pt x="5418201" y="0"/>
                  </a:lnTo>
                  <a:lnTo>
                    <a:pt x="5418201" y="4777613"/>
                  </a:lnTo>
                  <a:lnTo>
                    <a:pt x="0" y="4777613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418239" cy="483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Feature Engineering</a:t>
              </a:r>
            </a:p>
            <a:p>
              <a:pPr algn="l">
                <a:lnSpc>
                  <a:spcPts val="2589"/>
                </a:lnSpc>
              </a:pPr>
              <a:r>
                <a:rPr lang="en-US" sz="1876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Total_Services_Used, Estimated_LTV, Tenure_Group, and Payment_Risk_Score.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27023" y="2395023"/>
            <a:ext cx="4063679" cy="3583248"/>
            <a:chOff x="0" y="0"/>
            <a:chExt cx="5418239" cy="4777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18201" cy="4777613"/>
            </a:xfrm>
            <a:custGeom>
              <a:avLst/>
              <a:gdLst/>
              <a:ahLst/>
              <a:cxnLst/>
              <a:rect r="r" b="b" t="t" l="l"/>
              <a:pathLst>
                <a:path h="4777613" w="5418201">
                  <a:moveTo>
                    <a:pt x="0" y="0"/>
                  </a:moveTo>
                  <a:lnTo>
                    <a:pt x="5418201" y="0"/>
                  </a:lnTo>
                  <a:lnTo>
                    <a:pt x="5418201" y="4777613"/>
                  </a:lnTo>
                  <a:lnTo>
                    <a:pt x="0" y="4777613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418239" cy="483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Encoding &amp; Scaling</a:t>
              </a:r>
            </a:p>
            <a:p>
              <a:pPr algn="l">
                <a:lnSpc>
                  <a:spcPts val="2589"/>
                </a:lnSpc>
              </a:pPr>
              <a:r>
                <a:rPr lang="en-US" sz="1876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One-hot encode nominal features; standard-scale continuous features (tenure, charges, LTV).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582307" y="2395023"/>
            <a:ext cx="4063679" cy="3583248"/>
            <a:chOff x="0" y="0"/>
            <a:chExt cx="5418239" cy="47776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18201" cy="4777613"/>
            </a:xfrm>
            <a:custGeom>
              <a:avLst/>
              <a:gdLst/>
              <a:ahLst/>
              <a:cxnLst/>
              <a:rect r="r" b="b" t="t" l="l"/>
              <a:pathLst>
                <a:path h="4777613" w="5418201">
                  <a:moveTo>
                    <a:pt x="0" y="0"/>
                  </a:moveTo>
                  <a:lnTo>
                    <a:pt x="5418201" y="0"/>
                  </a:lnTo>
                  <a:lnTo>
                    <a:pt x="5418201" y="4777613"/>
                  </a:lnTo>
                  <a:lnTo>
                    <a:pt x="0" y="4777613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418239" cy="4834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Stratified Split</a:t>
              </a:r>
            </a:p>
            <a:p>
              <a:pPr algn="l">
                <a:lnSpc>
                  <a:spcPts val="2589"/>
                </a:lnSpc>
              </a:pPr>
              <a:r>
                <a:rPr lang="en-US" sz="1876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80/20 train-test split, stratified on Churn, random_state=42, to preserve class balance.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15048" y="6333401"/>
            <a:ext cx="16014659" cy="55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1"/>
              </a:lnSpc>
            </a:pPr>
            <a:r>
              <a:rPr lang="en-US" sz="2551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Engineered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5048" y="6979672"/>
            <a:ext cx="16014659" cy="2583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26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Total_Services_Used — </a:t>
            </a:r>
            <a:r>
              <a:rPr lang="en-US" sz="2026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count of subscribed add-on services (0-6); higher counts signal engagement.</a:t>
            </a:r>
          </a:p>
          <a:p>
            <a:pPr algn="l">
              <a:lnSpc>
                <a:spcPts val="2723"/>
              </a:lnSpc>
            </a:pPr>
            <a:r>
              <a:rPr lang="en-US" sz="2026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26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Estimated_LTV — </a:t>
            </a:r>
            <a:r>
              <a:rPr lang="en-US" sz="2026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MonthlyCharges × tenure; a proxy for cumulative customer value.</a:t>
            </a:r>
          </a:p>
          <a:p>
            <a:pPr algn="l">
              <a:lnSpc>
                <a:spcPts val="2723"/>
              </a:lnSpc>
            </a:pPr>
            <a:r>
              <a:rPr lang="en-US" sz="2026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26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Tenure_Group — </a:t>
            </a:r>
            <a:r>
              <a:rPr lang="en-US" sz="2026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lifecycle-stage bucket (0-12 / 12-24 / 24-48 / 48+ months).</a:t>
            </a:r>
          </a:p>
          <a:p>
            <a:pPr algn="l">
              <a:lnSpc>
                <a:spcPts val="2723"/>
              </a:lnSpc>
            </a:pPr>
            <a:r>
              <a:rPr lang="en-US" sz="2026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26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Payment_Risk_Score — </a:t>
            </a:r>
            <a:r>
              <a:rPr lang="en-US" sz="2026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flags non-automatic payment methods as higher churn risk.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5048" y="9771526"/>
            <a:ext cx="10798502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Churn Prediction &amp; Intelligent Retention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975312" y="9771526"/>
            <a:ext cx="503453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364226"/>
            <a:ext cx="16426453" cy="103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Comparison &amp; Evaluation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264034"/>
            <a:ext cx="16426453" cy="54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101" i="true">
                <a:solidFill>
                  <a:srgbClr val="70707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Champion model: XGBoost (Tuned)  |  ROC-AUC 0.846  |  Recall 81.5%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23603" y="2333543"/>
          <a:ext cx="9036760" cy="4766224"/>
        </p:xfrm>
        <a:graphic>
          <a:graphicData uri="http://schemas.openxmlformats.org/drawingml/2006/table">
            <a:tbl>
              <a:tblPr/>
              <a:tblGrid>
                <a:gridCol w="1506127"/>
                <a:gridCol w="1506127"/>
                <a:gridCol w="1506127"/>
                <a:gridCol w="1506127"/>
                <a:gridCol w="1506127"/>
                <a:gridCol w="1506127"/>
              </a:tblGrid>
              <a:tr h="4766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81"/>
                        </a:lnSpc>
                        <a:defRPr/>
                      </a:pPr>
                      <a:r>
                        <a:rPr lang="en-US" sz="1651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40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XGBoost (Tuned)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40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0.7410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40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0.5075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40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0.8155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40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0.6256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4040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0.8456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8F5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Gradient Boosting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0.8013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0.6577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0.5241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0.5833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0.8447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 (Tuned)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0.7516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0.5212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0.7888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0.6277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0.8436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Logistic Regression (Baseline)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0.7999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0.6554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0.5187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0.5791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0.8424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 (GridSearchCV)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0.6312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0.5401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0.5821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0.8267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 (Default)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0.7885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0.6258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0.5053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0.5592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0.8234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0.8006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0.6667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0.4973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0.5697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0.8213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XGBoost (Default)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0.7708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0.5780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0.5053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0.5392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0.8120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62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 (RBF)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0.7984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0.6654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0.4840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0.5604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>
                          <a:solidFill>
                            <a:srgbClr val="40404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0.7979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10894133" y="2196274"/>
            <a:ext cx="5939714" cy="5078882"/>
            <a:chOff x="0" y="0"/>
            <a:chExt cx="7919618" cy="6771843"/>
          </a:xfrm>
        </p:grpSpPr>
        <p:sp>
          <p:nvSpPr>
            <p:cNvPr name="Freeform 6" id="6" descr="plot_09_roc_curves.png"/>
            <p:cNvSpPr/>
            <p:nvPr/>
          </p:nvSpPr>
          <p:spPr>
            <a:xfrm flipH="false" flipV="false" rot="0">
              <a:off x="0" y="0"/>
              <a:ext cx="7919593" cy="6771894"/>
            </a:xfrm>
            <a:custGeom>
              <a:avLst/>
              <a:gdLst/>
              <a:ahLst/>
              <a:cxnLst/>
              <a:rect r="r" b="b" t="t" l="l"/>
              <a:pathLst>
                <a:path h="6771894" w="7919593">
                  <a:moveTo>
                    <a:pt x="0" y="0"/>
                  </a:moveTo>
                  <a:lnTo>
                    <a:pt x="7919593" y="0"/>
                  </a:lnTo>
                  <a:lnTo>
                    <a:pt x="7919593" y="6771894"/>
                  </a:lnTo>
                  <a:lnTo>
                    <a:pt x="0" y="677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5048" y="7528741"/>
            <a:ext cx="16014659" cy="203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26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Priority metrics: </a:t>
            </a:r>
            <a:r>
              <a:rPr lang="en-US" sz="2026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Recall and ROC-AUC are prioritized over raw Accuracy — a missed churner (False Negative) costs far more than a wasted retention offer (False Positive).</a:t>
            </a:r>
          </a:p>
          <a:p>
            <a:pPr algn="l">
              <a:lnSpc>
                <a:spcPts val="2723"/>
              </a:lnSpc>
            </a:pPr>
            <a:r>
              <a:rPr lang="en-US" sz="2026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026" b="true">
                <a:solidFill>
                  <a:srgbClr val="40404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Champion selection: </a:t>
            </a:r>
            <a:r>
              <a:rPr lang="en-US" sz="2026">
                <a:solidFill>
                  <a:srgbClr val="404040"/>
                </a:solidFill>
                <a:latin typeface="Calibri (MS)"/>
                <a:ea typeface="Calibri (MS)"/>
                <a:cs typeface="Calibri (MS)"/>
                <a:sym typeface="Calibri (MS)"/>
              </a:rPr>
              <a:t>XGBoost (Tuned) achieves the best balance of ROC-AUC and Recall after 5-fold Stratified cross-validated hyperparameter tuning.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5048" y="9771526"/>
            <a:ext cx="10798502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Churn Prediction &amp; Intelligent Retention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75312" y="9771526"/>
            <a:ext cx="503453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364226"/>
            <a:ext cx="16426453" cy="103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203" b="true">
                <a:solidFill>
                  <a:srgbClr val="1F386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Strategic Retention Playbook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1264034"/>
            <a:ext cx="16426453" cy="54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101" i="true">
                <a:solidFill>
                  <a:srgbClr val="70707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Five actionable strategies mapped directly to model findings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6454" y="2463660"/>
            <a:ext cx="3143993" cy="6328591"/>
            <a:chOff x="0" y="0"/>
            <a:chExt cx="4191991" cy="84381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92016" cy="8438134"/>
            </a:xfrm>
            <a:custGeom>
              <a:avLst/>
              <a:gdLst/>
              <a:ahLst/>
              <a:cxnLst/>
              <a:rect r="r" b="b" t="t" l="l"/>
              <a:pathLst>
                <a:path h="8438134" w="4192016">
                  <a:moveTo>
                    <a:pt x="0" y="0"/>
                  </a:moveTo>
                  <a:lnTo>
                    <a:pt x="4192016" y="0"/>
                  </a:lnTo>
                  <a:lnTo>
                    <a:pt x="4192016" y="8438134"/>
                  </a:lnTo>
                  <a:lnTo>
                    <a:pt x="0" y="8438134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191991" cy="85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Personalized Offers</a:t>
              </a:r>
            </a:p>
            <a:p>
              <a:pPr algn="ctr">
                <a:lnSpc>
                  <a:spcPts val="2278"/>
                </a:lnSpc>
              </a:pPr>
              <a:r>
                <a:rPr lang="en-US" sz="1651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high-risk customers (70%+ churn probability) with tailored discounts, credits, or upgrades instead of generic promotions.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124592" y="2463660"/>
            <a:ext cx="3143993" cy="6328591"/>
            <a:chOff x="0" y="0"/>
            <a:chExt cx="4191991" cy="84381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2016" cy="8438134"/>
            </a:xfrm>
            <a:custGeom>
              <a:avLst/>
              <a:gdLst/>
              <a:ahLst/>
              <a:cxnLst/>
              <a:rect r="r" b="b" t="t" l="l"/>
              <a:pathLst>
                <a:path h="8438134" w="4192016">
                  <a:moveTo>
                    <a:pt x="0" y="0"/>
                  </a:moveTo>
                  <a:lnTo>
                    <a:pt x="4192016" y="0"/>
                  </a:lnTo>
                  <a:lnTo>
                    <a:pt x="4192016" y="8438134"/>
                  </a:lnTo>
                  <a:lnTo>
                    <a:pt x="0" y="8438134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4191991" cy="85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Loyalty Rewards</a:t>
              </a:r>
            </a:p>
            <a:p>
              <a:pPr algn="ctr">
                <a:lnSpc>
                  <a:spcPts val="2278"/>
                </a:lnSpc>
              </a:pPr>
              <a:r>
                <a:rPr lang="en-US" sz="1651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Incentivize migration from month-to-month to annual contracts — the single strongest churn driver identified by the model.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32729" y="2463660"/>
            <a:ext cx="3143993" cy="6328591"/>
            <a:chOff x="0" y="0"/>
            <a:chExt cx="4191991" cy="84381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92016" cy="8438134"/>
            </a:xfrm>
            <a:custGeom>
              <a:avLst/>
              <a:gdLst/>
              <a:ahLst/>
              <a:cxnLst/>
              <a:rect r="r" b="b" t="t" l="l"/>
              <a:pathLst>
                <a:path h="8438134" w="4192016">
                  <a:moveTo>
                    <a:pt x="0" y="0"/>
                  </a:moveTo>
                  <a:lnTo>
                    <a:pt x="4192016" y="0"/>
                  </a:lnTo>
                  <a:lnTo>
                    <a:pt x="4192016" y="8438134"/>
                  </a:lnTo>
                  <a:lnTo>
                    <a:pt x="0" y="8438134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4191991" cy="85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Early Churn Alerts</a:t>
              </a:r>
            </a:p>
            <a:p>
              <a:pPr algn="ctr">
                <a:lnSpc>
                  <a:spcPts val="2278"/>
                </a:lnSpc>
              </a:pPr>
              <a:r>
                <a:rPr lang="en-US" sz="1651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 every customer monthly; automatically alert the retention team when risk crosses into the medium/high band.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40876" y="2463660"/>
            <a:ext cx="3143993" cy="6328591"/>
            <a:chOff x="0" y="0"/>
            <a:chExt cx="4191991" cy="843812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2016" cy="8438134"/>
            </a:xfrm>
            <a:custGeom>
              <a:avLst/>
              <a:gdLst/>
              <a:ahLst/>
              <a:cxnLst/>
              <a:rect r="r" b="b" t="t" l="l"/>
              <a:pathLst>
                <a:path h="8438134" w="4192016">
                  <a:moveTo>
                    <a:pt x="0" y="0"/>
                  </a:moveTo>
                  <a:lnTo>
                    <a:pt x="4192016" y="0"/>
                  </a:lnTo>
                  <a:lnTo>
                    <a:pt x="4192016" y="8438134"/>
                  </a:lnTo>
                  <a:lnTo>
                    <a:pt x="0" y="8438134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4191991" cy="85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Engagement Campaigns</a:t>
              </a:r>
            </a:p>
            <a:p>
              <a:pPr algn="ctr">
                <a:lnSpc>
                  <a:spcPts val="2278"/>
                </a:lnSpc>
              </a:pPr>
              <a:r>
                <a:rPr lang="en-US" sz="1651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Invest in structured onboarding during the first 12 months, when churn risk is highest.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49013" y="2463660"/>
            <a:ext cx="3143993" cy="6328591"/>
            <a:chOff x="0" y="0"/>
            <a:chExt cx="4191991" cy="843812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92016" cy="8438134"/>
            </a:xfrm>
            <a:custGeom>
              <a:avLst/>
              <a:gdLst/>
              <a:ahLst/>
              <a:cxnLst/>
              <a:rect r="r" b="b" t="t" l="l"/>
              <a:pathLst>
                <a:path h="8438134" w="4192016">
                  <a:moveTo>
                    <a:pt x="0" y="0"/>
                  </a:moveTo>
                  <a:lnTo>
                    <a:pt x="4192016" y="0"/>
                  </a:lnTo>
                  <a:lnTo>
                    <a:pt x="4192016" y="8438134"/>
                  </a:lnTo>
                  <a:lnTo>
                    <a:pt x="0" y="8438134"/>
                  </a:lnTo>
                  <a:close/>
                </a:path>
              </a:pathLst>
            </a:custGeom>
            <a:solidFill>
              <a:srgbClr val="F5F7FA"/>
            </a:solidFill>
            <a:ln w="14299" cap="sq">
              <a:solidFill>
                <a:srgbClr val="E0E4E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4191991" cy="85143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2E75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1F386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Upgrade Incentives</a:t>
              </a:r>
            </a:p>
            <a:p>
              <a:pPr algn="ctr">
                <a:lnSpc>
                  <a:spcPts val="2278"/>
                </a:lnSpc>
              </a:pPr>
              <a:r>
                <a:rPr lang="en-US" sz="1651">
                  <a:solidFill>
                    <a:srgbClr val="40404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Bundle add-on services (security, tech support) at a discount to raise switching costs and perceived value.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5048" y="9771526"/>
            <a:ext cx="10798502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Churn Prediction &amp; Intelligent Retention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75312" y="9771526"/>
            <a:ext cx="503453" cy="367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64"/>
              </a:lnSpc>
            </a:pPr>
            <a:r>
              <a:rPr lang="en-US" sz="1351">
                <a:solidFill>
                  <a:srgbClr val="A0A0A0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5048" y="570128"/>
            <a:ext cx="15602855" cy="1031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42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 &amp; Implementation Roadmap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5048" y="2156269"/>
            <a:ext cx="16014659" cy="328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DD8452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326" b="true">
                <a:solidFill>
                  <a:srgbClr val="E4EA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XGBoost (Tuned) is production-ready: </a:t>
            </a:r>
            <a:r>
              <a:rPr lang="en-US" sz="2326">
                <a:solidFill>
                  <a:srgbClr val="E4EAF5"/>
                </a:solidFill>
                <a:latin typeface="Calibri (MS)"/>
                <a:ea typeface="Calibri (MS)"/>
                <a:cs typeface="Calibri (MS)"/>
                <a:sym typeface="Calibri (MS)"/>
              </a:rPr>
              <a:t>ROC-AUC of 0.846 and Recall of 81.5% on held-out data, correctly identifying roughly 4 in 5 at-risk customers.</a:t>
            </a:r>
          </a:p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DD8452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326" b="true">
                <a:solidFill>
                  <a:srgbClr val="E4EA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Findings map directly to action: </a:t>
            </a:r>
            <a:r>
              <a:rPr lang="en-US" sz="2326">
                <a:solidFill>
                  <a:srgbClr val="E4EAF5"/>
                </a:solidFill>
                <a:latin typeface="Calibri (MS)"/>
                <a:ea typeface="Calibri (MS)"/>
                <a:cs typeface="Calibri (MS)"/>
                <a:sym typeface="Calibri (MS)"/>
              </a:rPr>
              <a:t>contract type, tenure, and payment method are both the top predictive features and the top retention levers.</a:t>
            </a:r>
          </a:p>
          <a:p>
            <a:pPr algn="l">
              <a:lnSpc>
                <a:spcPts val="3127"/>
              </a:lnSpc>
            </a:pPr>
            <a:r>
              <a:rPr lang="en-US" sz="2326">
                <a:solidFill>
                  <a:srgbClr val="DD8452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326" b="true">
                <a:solidFill>
                  <a:srgbClr val="E4EA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system closes the loop: </a:t>
            </a:r>
            <a:r>
              <a:rPr lang="en-US" sz="2326">
                <a:solidFill>
                  <a:srgbClr val="E4EAF5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 risk → intervene proactively → measure impact on churn rate over time.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5048" y="5637533"/>
            <a:ext cx="8053159" cy="562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2702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5048" y="6352451"/>
            <a:ext cx="16014659" cy="3004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>
                <a:solidFill>
                  <a:srgbClr val="DD8452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176">
                <a:solidFill>
                  <a:srgbClr val="E4EAF5"/>
                </a:solidFill>
                <a:latin typeface="Calibri (MS)"/>
                <a:ea typeface="Calibri (MS)"/>
                <a:cs typeface="Calibri (MS)"/>
                <a:sym typeface="Calibri (MS)"/>
              </a:rPr>
              <a:t>Deploy the scoring pipeline into the CRM for real-time customer risk flags</a:t>
            </a:r>
          </a:p>
          <a:p>
            <a:pPr algn="l">
              <a:lnSpc>
                <a:spcPts val="2925"/>
              </a:lnSpc>
            </a:pPr>
            <a:r>
              <a:rPr lang="en-US" sz="2176">
                <a:solidFill>
                  <a:srgbClr val="DD8452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176">
                <a:solidFill>
                  <a:srgbClr val="E4EAF5"/>
                </a:solidFill>
                <a:latin typeface="Calibri (MS)"/>
                <a:ea typeface="Calibri (MS)"/>
                <a:cs typeface="Calibri (MS)"/>
                <a:sym typeface="Calibri (MS)"/>
              </a:rPr>
              <a:t>A/B test retention offers against model-identified risk segments</a:t>
            </a:r>
          </a:p>
          <a:p>
            <a:pPr algn="l">
              <a:lnSpc>
                <a:spcPts val="2925"/>
              </a:lnSpc>
            </a:pPr>
            <a:r>
              <a:rPr lang="en-US" sz="2176">
                <a:solidFill>
                  <a:srgbClr val="DD8452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176">
                <a:solidFill>
                  <a:srgbClr val="E4EAF5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Integrate Early Churn Alerts into the retention team's workflow</a:t>
            </a:r>
          </a:p>
          <a:p>
            <a:pPr algn="l">
              <a:lnSpc>
                <a:spcPts val="2925"/>
              </a:lnSpc>
            </a:pPr>
            <a:r>
              <a:rPr lang="en-US" sz="2176">
                <a:solidFill>
                  <a:srgbClr val="DD8452"/>
                </a:solidFill>
                <a:latin typeface="Calibri (MS)"/>
                <a:ea typeface="Calibri (MS)"/>
                <a:cs typeface="Calibri (MS)"/>
                <a:sym typeface="Calibri (MS)"/>
              </a:rPr>
              <a:t>●  </a:t>
            </a:r>
            <a:r>
              <a:rPr lang="en-US" sz="2176">
                <a:solidFill>
                  <a:srgbClr val="E4EAF5"/>
                </a:solidFill>
                <a:latin typeface="Calibri (MS)"/>
                <a:ea typeface="Calibri (MS)"/>
                <a:cs typeface="Calibri (MS)"/>
                <a:sym typeface="Calibri (MS)"/>
              </a:rPr>
              <a:t>Retrain the model periodically as customer behavior evolves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5048" y="9568701"/>
            <a:ext cx="16014659" cy="39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0"/>
              </a:lnSpc>
            </a:pPr>
            <a:r>
              <a:rPr lang="en-US" sz="2101" i="true">
                <a:solidFill>
                  <a:srgbClr val="9FB0CC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DAHT4WxFYZY</dc:identifier>
  <dcterms:modified xsi:type="dcterms:W3CDTF">2011-08-01T06:04:30Z</dcterms:modified>
  <cp:revision>1</cp:revision>
  <dc:title>Churn_Prediction_Presentation.pptx</dc:title>
</cp:coreProperties>
</file>