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Customer Churn Prediction &amp;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889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Intelligent Retention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C7D5E8"/>
                </a:solidFill>
                <a:latin typeface="Calibri"/>
              </a:rPr>
              <a:t>An End-to-End Machine Learning Pipeline for Proactive Customer Retention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9FB0CC"/>
                </a:solidFill>
                <a:latin typeface="Calibri"/>
              </a:rPr>
              <a:t>Data Science &amp; Machine Learning Internship Project  |  IBM Telco Customer Churn Dataset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Business Problem &amp; Financial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707070"/>
                </a:solidFill>
                <a:latin typeface="Calibri"/>
              </a:rPr>
              <a:t>Why churn prediction is a high-leverage lever for the business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2468880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/>
          <a:lstStyle/>
          <a:p>
            <a:pPr algn="ctr"/>
            <a:r>
              <a:rPr sz="3000" b="1">
                <a:solidFill>
                  <a:srgbClr val="1F3864"/>
                </a:solidFill>
                <a:latin typeface="Calibri"/>
              </a:rPr>
              <a:t>26.5%</a:t>
            </a:r>
          </a:p>
          <a:p>
            <a:pPr algn="ctr"/>
            <a:r>
              <a:rPr sz="1250">
                <a:solidFill>
                  <a:srgbClr val="707070"/>
                </a:solidFill>
                <a:latin typeface="Calibri"/>
              </a:rPr>
              <a:t>Overall Churn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154680" y="1417320"/>
            <a:ext cx="2468880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/>
          <a:lstStyle/>
          <a:p>
            <a:pPr algn="ctr"/>
            <a:r>
              <a:rPr sz="3000" b="1">
                <a:solidFill>
                  <a:srgbClr val="1F3864"/>
                </a:solidFill>
                <a:latin typeface="Calibri"/>
              </a:rPr>
              <a:t>7,043</a:t>
            </a:r>
          </a:p>
          <a:p>
            <a:pPr algn="ctr"/>
            <a:r>
              <a:rPr sz="1250">
                <a:solidFill>
                  <a:srgbClr val="707070"/>
                </a:solidFill>
                <a:latin typeface="Calibri"/>
              </a:rPr>
              <a:t>Customers Analyzed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0" y="1417320"/>
            <a:ext cx="2468880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/>
          <a:lstStyle/>
          <a:p>
            <a:pPr algn="ctr"/>
            <a:r>
              <a:rPr sz="3000" b="1">
                <a:solidFill>
                  <a:srgbClr val="1F3864"/>
                </a:solidFill>
                <a:latin typeface="Calibri"/>
              </a:rPr>
              <a:t>1,869</a:t>
            </a:r>
          </a:p>
          <a:p>
            <a:pPr algn="ctr"/>
            <a:r>
              <a:rPr sz="1250">
                <a:solidFill>
                  <a:srgbClr val="707070"/>
                </a:solidFill>
                <a:latin typeface="Calibri"/>
              </a:rPr>
              <a:t>Customers Lost to Churn</a:t>
            </a:r>
          </a:p>
        </p:txBody>
      </p:sp>
      <p:sp>
        <p:nvSpPr>
          <p:cNvPr id="7" name="Rectangle 6"/>
          <p:cNvSpPr/>
          <p:nvPr/>
        </p:nvSpPr>
        <p:spPr>
          <a:xfrm>
            <a:off x="8366760" y="1417320"/>
            <a:ext cx="2880360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/>
          <a:lstStyle/>
          <a:p>
            <a:pPr algn="ctr"/>
            <a:r>
              <a:rPr sz="3000" b="1">
                <a:solidFill>
                  <a:srgbClr val="1F3864"/>
                </a:solidFill>
                <a:latin typeface="Calibri"/>
              </a:rPr>
              <a:t>5-25x</a:t>
            </a:r>
          </a:p>
          <a:p>
            <a:pPr algn="ctr"/>
            <a:r>
              <a:rPr sz="1250">
                <a:solidFill>
                  <a:srgbClr val="707070"/>
                </a:solidFill>
                <a:latin typeface="Calibri"/>
              </a:rPr>
              <a:t>Cost to Acquire vs. Retain*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00">
                <a:solidFill>
                  <a:srgbClr val="2E75B6"/>
                </a:solidFill>
                <a:latin typeface="Calibri"/>
              </a:rPr>
              <a:t>●  </a:t>
            </a:r>
            <a:r>
              <a:rPr b="1" sz="1600">
                <a:solidFill>
                  <a:srgbClr val="404040"/>
                </a:solidFill>
                <a:latin typeface="Calibri"/>
              </a:rPr>
              <a:t>The revenue problem: </a:t>
            </a:r>
            <a:r>
              <a:rPr sz="1600">
                <a:solidFill>
                  <a:srgbClr val="404040"/>
                </a:solidFill>
                <a:latin typeface="Calibri"/>
              </a:rPr>
              <a:t>roughly 1 in 4 customers churns, representing a continuous, compounding drain on recurring subscription revenue.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00">
                <a:solidFill>
                  <a:srgbClr val="2E75B6"/>
                </a:solidFill>
                <a:latin typeface="Calibri"/>
              </a:rPr>
              <a:t>●  </a:t>
            </a:r>
            <a:r>
              <a:rPr b="1" sz="1600">
                <a:solidFill>
                  <a:srgbClr val="404040"/>
                </a:solidFill>
                <a:latin typeface="Calibri"/>
              </a:rPr>
              <a:t>The acquisition-cost problem: </a:t>
            </a:r>
            <a:r>
              <a:rPr sz="1600">
                <a:solidFill>
                  <a:srgbClr val="404040"/>
                </a:solidFill>
                <a:latin typeface="Calibri"/>
              </a:rPr>
              <a:t>replacing a lost customer costs significantly more than retaining one — every churned customer is a doubly expensive loss.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00">
                <a:solidFill>
                  <a:srgbClr val="2E75B6"/>
                </a:solidFill>
                <a:latin typeface="Calibri"/>
              </a:rPr>
              <a:t>●  </a:t>
            </a:r>
            <a:r>
              <a:rPr b="1" sz="1600">
                <a:solidFill>
                  <a:srgbClr val="404040"/>
                </a:solidFill>
                <a:latin typeface="Calibri"/>
              </a:rPr>
              <a:t>The status-quo problem: </a:t>
            </a:r>
            <a:r>
              <a:rPr sz="1600">
                <a:solidFill>
                  <a:srgbClr val="404040"/>
                </a:solidFill>
                <a:latin typeface="Calibri"/>
              </a:rPr>
              <a:t>without predictive scoring, retention efforts are either wasted on blanket-wide offers or applied too late, after a customer has already decided to leave.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00">
                <a:solidFill>
                  <a:srgbClr val="2E75B6"/>
                </a:solidFill>
                <a:latin typeface="Calibri"/>
              </a:rPr>
              <a:t>●  </a:t>
            </a:r>
            <a:r>
              <a:rPr b="1" sz="1600">
                <a:solidFill>
                  <a:srgbClr val="404040"/>
                </a:solidFill>
                <a:latin typeface="Calibri"/>
              </a:rPr>
              <a:t>The opportunity: </a:t>
            </a:r>
            <a:r>
              <a:rPr sz="1600">
                <a:solidFill>
                  <a:srgbClr val="404040"/>
                </a:solidFill>
                <a:latin typeface="Calibri"/>
              </a:rPr>
              <a:t>a model that reliably flags at-risk customers early lets the business target retention spend where it has the highest return.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636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707070"/>
                </a:solidFill>
                <a:latin typeface="Calibri"/>
              </a:rPr>
              <a:t>*Widely cited industry benchmark for customer acquisition vs. retention cost.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A0A0A0"/>
                </a:solidFill>
                <a:latin typeface="Calibri"/>
              </a:rPr>
              <a:t>Customer Churn Prediction &amp; Intelligent Retention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A0A0A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Exploratory Data Analysis — Key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707070"/>
                </a:solidFill>
                <a:latin typeface="Calibri"/>
              </a:rPr>
              <a:t>What the data reveals about who churns, and why</a:t>
            </a:r>
          </a:p>
        </p:txBody>
      </p:sp>
      <p:pic>
        <p:nvPicPr>
          <p:cNvPr id="4" name="Picture 3" descr="plot_01_churn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30780"/>
            <a:ext cx="3291840" cy="2453640"/>
          </a:xfrm>
          <a:prstGeom prst="rect">
            <a:avLst/>
          </a:prstGeom>
        </p:spPr>
      </p:pic>
      <p:pic>
        <p:nvPicPr>
          <p:cNvPr id="5" name="Picture 4" descr="plot_04_churn_by_contract_pay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243440"/>
            <a:ext cx="7772399" cy="2828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89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50">
                <a:solidFill>
                  <a:srgbClr val="2E75B6"/>
                </a:solidFill>
                <a:latin typeface="Calibri"/>
              </a:rPr>
              <a:t>●  </a:t>
            </a:r>
            <a:r>
              <a:rPr b="1" sz="1350">
                <a:solidFill>
                  <a:srgbClr val="404040"/>
                </a:solidFill>
                <a:latin typeface="Calibri"/>
              </a:rPr>
              <a:t>Contract type dominates: </a:t>
            </a:r>
            <a:r>
              <a:rPr sz="1350">
                <a:solidFill>
                  <a:srgbClr val="404040"/>
                </a:solidFill>
                <a:latin typeface="Calibri"/>
              </a:rPr>
              <a:t>month-to-month customers churn far more than one- or two-year contract holders — the single strongest churn signal in the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A0A0A0"/>
                </a:solidFill>
                <a:latin typeface="Calibri"/>
              </a:rPr>
              <a:t>Customer Churn Prediction &amp; Intelligent Retention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A0A0A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Machine Learning Pipeline &amp; Feature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707070"/>
                </a:solidFill>
                <a:latin typeface="Calibri"/>
              </a:rPr>
              <a:t>From raw data to a production-ready feature matrix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2697480" cy="2377440"/>
          </a:xfrm>
          <a:prstGeom prst="rect">
            <a:avLst/>
          </a:prstGeom>
          <a:solidFill>
            <a:srgbClr val="F5F7FA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77800"/>
          <a:lstStyle/>
          <a:p>
            <a:pPr algn="ctr"/>
            <a:r>
              <a:rPr b="1" sz="1500">
                <a:solidFill>
                  <a:srgbClr val="2E75B6"/>
                </a:solidFill>
                <a:latin typeface="Calibri"/>
              </a:rPr>
              <a:t>1. Data Hygiene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250">
                <a:solidFill>
                  <a:srgbClr val="404040"/>
                </a:solidFill>
                <a:latin typeface="Calibri"/>
              </a:rPr>
              <a:t>Coerce TotalCharges to numeric; impute 11 blank-string values (new customers, tenure = 0) as 0.</a:t>
            </a:r>
          </a:p>
        </p:txBody>
      </p:sp>
      <p:sp>
        <p:nvSpPr>
          <p:cNvPr id="5" name="Rectangle 4"/>
          <p:cNvSpPr/>
          <p:nvPr/>
        </p:nvSpPr>
        <p:spPr>
          <a:xfrm>
            <a:off x="3383280" y="1600200"/>
            <a:ext cx="2697480" cy="2377440"/>
          </a:xfrm>
          <a:prstGeom prst="rect">
            <a:avLst/>
          </a:prstGeom>
          <a:solidFill>
            <a:srgbClr val="F5F7FA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77800"/>
          <a:lstStyle/>
          <a:p>
            <a:pPr algn="ctr"/>
            <a:r>
              <a:rPr b="1" sz="1500">
                <a:solidFill>
                  <a:srgbClr val="2E75B6"/>
                </a:solidFill>
                <a:latin typeface="Calibri"/>
              </a:rPr>
              <a:t>2. Feature Engineering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250">
                <a:solidFill>
                  <a:srgbClr val="404040"/>
                </a:solidFill>
                <a:latin typeface="Calibri"/>
              </a:rPr>
              <a:t>Create Total_Services_Used, Estimated_LTV, Tenure_Group, and Payment_Risk_Score.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600200"/>
            <a:ext cx="2697480" cy="2377440"/>
          </a:xfrm>
          <a:prstGeom prst="rect">
            <a:avLst/>
          </a:prstGeom>
          <a:solidFill>
            <a:srgbClr val="F5F7FA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77800"/>
          <a:lstStyle/>
          <a:p>
            <a:pPr algn="ctr"/>
            <a:r>
              <a:rPr b="1" sz="1500">
                <a:solidFill>
                  <a:srgbClr val="2E75B6"/>
                </a:solidFill>
                <a:latin typeface="Calibri"/>
              </a:rPr>
              <a:t>3. Encoding &amp; Scaling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250">
                <a:solidFill>
                  <a:srgbClr val="404040"/>
                </a:solidFill>
                <a:latin typeface="Calibri"/>
              </a:rPr>
              <a:t>One-hot encode nominal features; standard-scale continuous features (tenure, charges, LTV).</a:t>
            </a:r>
          </a:p>
        </p:txBody>
      </p:sp>
      <p:sp>
        <p:nvSpPr>
          <p:cNvPr id="7" name="Rectangle 6"/>
          <p:cNvSpPr/>
          <p:nvPr/>
        </p:nvSpPr>
        <p:spPr>
          <a:xfrm>
            <a:off x="9052560" y="1600200"/>
            <a:ext cx="2697480" cy="2377440"/>
          </a:xfrm>
          <a:prstGeom prst="rect">
            <a:avLst/>
          </a:prstGeom>
          <a:solidFill>
            <a:srgbClr val="F5F7FA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77800"/>
          <a:lstStyle/>
          <a:p>
            <a:pPr algn="ctr"/>
            <a:r>
              <a:rPr b="1" sz="1500">
                <a:solidFill>
                  <a:srgbClr val="2E75B6"/>
                </a:solidFill>
                <a:latin typeface="Calibri"/>
              </a:rPr>
              <a:t>4. Stratified Split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250">
                <a:solidFill>
                  <a:srgbClr val="404040"/>
                </a:solidFill>
                <a:latin typeface="Calibri"/>
              </a:rPr>
              <a:t>80/20 train-test split, stratified on Churn, random_state=42, to preserve class balance.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519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F3864"/>
                </a:solidFill>
                <a:latin typeface="Calibri"/>
              </a:rPr>
              <a:t>Engineered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63440"/>
            <a:ext cx="107899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>
                <a:solidFill>
                  <a:srgbClr val="2E75B6"/>
                </a:solidFill>
                <a:latin typeface="Calibri"/>
              </a:rPr>
              <a:t>●  </a:t>
            </a:r>
            <a:r>
              <a:rPr b="1" sz="1350">
                <a:solidFill>
                  <a:srgbClr val="404040"/>
                </a:solidFill>
                <a:latin typeface="Calibri"/>
              </a:rPr>
              <a:t>Total_Services_Used — </a:t>
            </a:r>
            <a:r>
              <a:rPr sz="1350">
                <a:solidFill>
                  <a:srgbClr val="404040"/>
                </a:solidFill>
                <a:latin typeface="Calibri"/>
              </a:rPr>
              <a:t>count of subscribed add-on services (0-6); higher counts signal engagement.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>
                <a:solidFill>
                  <a:srgbClr val="2E75B6"/>
                </a:solidFill>
                <a:latin typeface="Calibri"/>
              </a:rPr>
              <a:t>●  </a:t>
            </a:r>
            <a:r>
              <a:rPr b="1" sz="1350">
                <a:solidFill>
                  <a:srgbClr val="404040"/>
                </a:solidFill>
                <a:latin typeface="Calibri"/>
              </a:rPr>
              <a:t>Estimated_LTV — </a:t>
            </a:r>
            <a:r>
              <a:rPr sz="1350">
                <a:solidFill>
                  <a:srgbClr val="404040"/>
                </a:solidFill>
                <a:latin typeface="Calibri"/>
              </a:rPr>
              <a:t>MonthlyCharges × tenure; a proxy for cumulative customer value.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>
                <a:solidFill>
                  <a:srgbClr val="2E75B6"/>
                </a:solidFill>
                <a:latin typeface="Calibri"/>
              </a:rPr>
              <a:t>●  </a:t>
            </a:r>
            <a:r>
              <a:rPr b="1" sz="1350">
                <a:solidFill>
                  <a:srgbClr val="404040"/>
                </a:solidFill>
                <a:latin typeface="Calibri"/>
              </a:rPr>
              <a:t>Tenure_Group — </a:t>
            </a:r>
            <a:r>
              <a:rPr sz="1350">
                <a:solidFill>
                  <a:srgbClr val="404040"/>
                </a:solidFill>
                <a:latin typeface="Calibri"/>
              </a:rPr>
              <a:t>lifecycle-stage bucket (0-12 / 12-24 / 24-48 / 48+ months).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>
                <a:solidFill>
                  <a:srgbClr val="2E75B6"/>
                </a:solidFill>
                <a:latin typeface="Calibri"/>
              </a:rPr>
              <a:t>●  </a:t>
            </a:r>
            <a:r>
              <a:rPr b="1" sz="1350">
                <a:solidFill>
                  <a:srgbClr val="404040"/>
                </a:solidFill>
                <a:latin typeface="Calibri"/>
              </a:rPr>
              <a:t>Payment_Risk_Score — </a:t>
            </a:r>
            <a:r>
              <a:rPr sz="1350">
                <a:solidFill>
                  <a:srgbClr val="404040"/>
                </a:solidFill>
                <a:latin typeface="Calibri"/>
              </a:rPr>
              <a:t>flags non-automatic payment methods as higher churn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A0A0A0"/>
                </a:solidFill>
                <a:latin typeface="Calibri"/>
              </a:rPr>
              <a:t>Customer Churn Prediction &amp; Intelligent Retention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A0A0A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Model Comparison &amp; Evaluation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707070"/>
                </a:solidFill>
                <a:latin typeface="Calibri"/>
              </a:rPr>
              <a:t>Champion model: XGBoost (Tuned)  |  ROC-AUC 0.845  |  Recall 81.5%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60350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Accuracy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F1-Score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XGBoost (Tuned)</a:t>
                      </a:r>
                    </a:p>
                  </a:txBody>
                  <a:tcPr>
                    <a:solidFill>
                      <a:srgbClr val="D9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04040"/>
                          </a:solidFill>
                        </a:rPr>
                        <a:t>0.7424</a:t>
                      </a:r>
                    </a:p>
                  </a:txBody>
                  <a:tcPr>
                    <a:solidFill>
                      <a:srgbClr val="D9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04040"/>
                          </a:solidFill>
                        </a:rPr>
                        <a:t>0.5092</a:t>
                      </a:r>
                    </a:p>
                  </a:txBody>
                  <a:tcPr>
                    <a:solidFill>
                      <a:srgbClr val="D9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04040"/>
                          </a:solidFill>
                        </a:rPr>
                        <a:t>0.8155</a:t>
                      </a:r>
                    </a:p>
                  </a:txBody>
                  <a:tcPr>
                    <a:solidFill>
                      <a:srgbClr val="D9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04040"/>
                          </a:solidFill>
                        </a:rPr>
                        <a:t>0.6269</a:t>
                      </a:r>
                    </a:p>
                  </a:txBody>
                  <a:tcPr>
                    <a:solidFill>
                      <a:srgbClr val="D9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04040"/>
                          </a:solidFill>
                        </a:rPr>
                        <a:t>0.8454</a:t>
                      </a:r>
                    </a:p>
                  </a:txBody>
                  <a:tcPr>
                    <a:solidFill>
                      <a:srgbClr val="D9E8F5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404040"/>
                          </a:solidFill>
                        </a:rPr>
                        <a:t>Random Forest (Tuned)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0.7587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0.5311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0.7754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0.6304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0.8442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404040"/>
                          </a:solidFill>
                        </a:rPr>
                        <a:t>Logistic Regression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0.7999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0.6554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0.5187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0.5791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0.8424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404040"/>
                          </a:solidFill>
                        </a:rPr>
                        <a:t>Random Forest (Default)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0.7885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0.6258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0.5053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0.5592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0.8234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404040"/>
                          </a:solidFill>
                        </a:rPr>
                        <a:t>Decision Tree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0.8006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0.6667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0.4973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0.5697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0.8213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404040"/>
                          </a:solidFill>
                        </a:rPr>
                        <a:t>XGBoost (Default)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0.7722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0.5810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0.5080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0.5421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0.8102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404040"/>
                          </a:solidFill>
                        </a:rPr>
                        <a:t>SVM (RBF)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0.7984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0.6654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0.4840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0.5604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404040"/>
                          </a:solidFill>
                        </a:rPr>
                        <a:t>0.7979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plot_09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9688" y="1463040"/>
            <a:ext cx="3951504" cy="33832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50">
                <a:solidFill>
                  <a:srgbClr val="2E75B6"/>
                </a:solidFill>
                <a:latin typeface="Calibri"/>
              </a:rPr>
              <a:t>●  </a:t>
            </a:r>
            <a:r>
              <a:rPr b="1" sz="1350">
                <a:solidFill>
                  <a:srgbClr val="404040"/>
                </a:solidFill>
                <a:latin typeface="Calibri"/>
              </a:rPr>
              <a:t>Priority metrics: </a:t>
            </a:r>
            <a:r>
              <a:rPr sz="1350">
                <a:solidFill>
                  <a:srgbClr val="404040"/>
                </a:solidFill>
                <a:latin typeface="Calibri"/>
              </a:rPr>
              <a:t>Recall and ROC-AUC are prioritized over raw Accuracy — a missed churner (False Negative) costs far more than a wasted retention offer (False Positive).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50">
                <a:solidFill>
                  <a:srgbClr val="2E75B6"/>
                </a:solidFill>
                <a:latin typeface="Calibri"/>
              </a:rPr>
              <a:t>●  </a:t>
            </a:r>
            <a:r>
              <a:rPr b="1" sz="1350">
                <a:solidFill>
                  <a:srgbClr val="404040"/>
                </a:solidFill>
                <a:latin typeface="Calibri"/>
              </a:rPr>
              <a:t>Champion selection: </a:t>
            </a:r>
            <a:r>
              <a:rPr sz="1350">
                <a:solidFill>
                  <a:srgbClr val="404040"/>
                </a:solidFill>
                <a:latin typeface="Calibri"/>
              </a:rPr>
              <a:t>XGBoost (Tuned) achieves the best balance of ROC-AUC and Recall after 5-fold Stratified cross-validated hyperparameter tuning.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A0A0A0"/>
                </a:solidFill>
                <a:latin typeface="Calibri"/>
              </a:rPr>
              <a:t>Customer Churn Prediction &amp; Intelligent Retention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A0A0A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3864"/>
                </a:solidFill>
                <a:latin typeface="Calibri"/>
              </a:rPr>
              <a:t>Strategic Retention Playbook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707070"/>
                </a:solidFill>
                <a:latin typeface="Calibri"/>
              </a:rPr>
              <a:t>Five actionable strategies mapped directly to model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2084831" cy="4206240"/>
          </a:xfrm>
          <a:prstGeom prst="rect">
            <a:avLst/>
          </a:prstGeom>
          <a:solidFill>
            <a:srgbClr val="F5F7FA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03200"/>
          <a:lstStyle/>
          <a:p>
            <a:pPr algn="ctr"/>
            <a:r>
              <a:rPr sz="2600" b="1">
                <a:solidFill>
                  <a:srgbClr val="2E75B6"/>
                </a:solidFill>
                <a:latin typeface="Calibri"/>
              </a:rPr>
              <a:t>1</a:t>
            </a:r>
          </a:p>
          <a:p>
            <a:pPr algn="ctr">
              <a:spcBef>
                <a:spcPts val="1000"/>
              </a:spcBef>
            </a:pPr>
            <a:r>
              <a:rPr b="1" sz="1400">
                <a:solidFill>
                  <a:srgbClr val="1F3864"/>
                </a:solidFill>
                <a:latin typeface="Calibri"/>
              </a:rPr>
              <a:t>Personalized Offers</a:t>
            </a:r>
          </a:p>
          <a:p>
            <a:pPr algn="ctr">
              <a:lnSpc>
                <a:spcPct val="115000"/>
              </a:lnSpc>
              <a:spcBef>
                <a:spcPts val="1000"/>
              </a:spcBef>
            </a:pPr>
            <a:r>
              <a:rPr sz="1100">
                <a:solidFill>
                  <a:srgbClr val="404040"/>
                </a:solidFill>
                <a:latin typeface="Calibri"/>
              </a:rPr>
              <a:t>Target high-risk customers (70%+ churn probability) with tailored discounts, credits, or upgrades instead of generic promotions.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52343" y="1645920"/>
            <a:ext cx="2084831" cy="4206240"/>
          </a:xfrm>
          <a:prstGeom prst="rect">
            <a:avLst/>
          </a:prstGeom>
          <a:solidFill>
            <a:srgbClr val="F5F7FA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03200"/>
          <a:lstStyle/>
          <a:p>
            <a:pPr algn="ctr"/>
            <a:r>
              <a:rPr sz="2600" b="1">
                <a:solidFill>
                  <a:srgbClr val="2E75B6"/>
                </a:solidFill>
                <a:latin typeface="Calibri"/>
              </a:rPr>
              <a:t>2</a:t>
            </a:r>
          </a:p>
          <a:p>
            <a:pPr algn="ctr">
              <a:spcBef>
                <a:spcPts val="1000"/>
              </a:spcBef>
            </a:pPr>
            <a:r>
              <a:rPr b="1" sz="1400">
                <a:solidFill>
                  <a:srgbClr val="1F3864"/>
                </a:solidFill>
                <a:latin typeface="Calibri"/>
              </a:rPr>
              <a:t>Loyalty Rewards</a:t>
            </a:r>
          </a:p>
          <a:p>
            <a:pPr algn="ctr">
              <a:lnSpc>
                <a:spcPct val="115000"/>
              </a:lnSpc>
              <a:spcBef>
                <a:spcPts val="1000"/>
              </a:spcBef>
            </a:pPr>
            <a:r>
              <a:rPr sz="1100">
                <a:solidFill>
                  <a:srgbClr val="404040"/>
                </a:solidFill>
                <a:latin typeface="Calibri"/>
              </a:rPr>
              <a:t>Incentivize migration from month-to-month to annual contracts — the single strongest churn driver identified by the model.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6046" y="1645920"/>
            <a:ext cx="2084831" cy="4206240"/>
          </a:xfrm>
          <a:prstGeom prst="rect">
            <a:avLst/>
          </a:prstGeom>
          <a:solidFill>
            <a:srgbClr val="F5F7FA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03200"/>
          <a:lstStyle/>
          <a:p>
            <a:pPr algn="ctr"/>
            <a:r>
              <a:rPr sz="2600" b="1">
                <a:solidFill>
                  <a:srgbClr val="2E75B6"/>
                </a:solidFill>
                <a:latin typeface="Calibri"/>
              </a:rPr>
              <a:t>3</a:t>
            </a:r>
          </a:p>
          <a:p>
            <a:pPr algn="ctr">
              <a:spcBef>
                <a:spcPts val="1000"/>
              </a:spcBef>
            </a:pPr>
            <a:r>
              <a:rPr b="1" sz="1400">
                <a:solidFill>
                  <a:srgbClr val="1F3864"/>
                </a:solidFill>
                <a:latin typeface="Calibri"/>
              </a:rPr>
              <a:t>Early Churn Alerts</a:t>
            </a:r>
          </a:p>
          <a:p>
            <a:pPr algn="ctr">
              <a:lnSpc>
                <a:spcPct val="115000"/>
              </a:lnSpc>
              <a:spcBef>
                <a:spcPts val="1000"/>
              </a:spcBef>
            </a:pPr>
            <a:r>
              <a:rPr sz="1100">
                <a:solidFill>
                  <a:srgbClr val="404040"/>
                </a:solidFill>
                <a:latin typeface="Calibri"/>
              </a:rPr>
              <a:t>Score every customer monthly; automatically alert the retention team when risk crosses into the medium/high band.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59749" y="1645920"/>
            <a:ext cx="2084831" cy="4206240"/>
          </a:xfrm>
          <a:prstGeom prst="rect">
            <a:avLst/>
          </a:prstGeom>
          <a:solidFill>
            <a:srgbClr val="F5F7FA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03200"/>
          <a:lstStyle/>
          <a:p>
            <a:pPr algn="ctr"/>
            <a:r>
              <a:rPr sz="2600" b="1">
                <a:solidFill>
                  <a:srgbClr val="2E75B6"/>
                </a:solidFill>
                <a:latin typeface="Calibri"/>
              </a:rPr>
              <a:t>4</a:t>
            </a:r>
          </a:p>
          <a:p>
            <a:pPr algn="ctr">
              <a:spcBef>
                <a:spcPts val="1000"/>
              </a:spcBef>
            </a:pPr>
            <a:r>
              <a:rPr b="1" sz="1400">
                <a:solidFill>
                  <a:srgbClr val="1F3864"/>
                </a:solidFill>
                <a:latin typeface="Calibri"/>
              </a:rPr>
              <a:t>Engagement Campaigns</a:t>
            </a:r>
          </a:p>
          <a:p>
            <a:pPr algn="ctr">
              <a:lnSpc>
                <a:spcPct val="115000"/>
              </a:lnSpc>
              <a:spcBef>
                <a:spcPts val="1000"/>
              </a:spcBef>
            </a:pPr>
            <a:r>
              <a:rPr sz="1100">
                <a:solidFill>
                  <a:srgbClr val="404040"/>
                </a:solidFill>
                <a:latin typeface="Calibri"/>
              </a:rPr>
              <a:t>Invest in structured onboarding during the first 12 months, when churn risk is highest.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9363452" y="1645920"/>
            <a:ext cx="2084831" cy="4206240"/>
          </a:xfrm>
          <a:prstGeom prst="rect">
            <a:avLst/>
          </a:prstGeom>
          <a:solidFill>
            <a:srgbClr val="F5F7FA"/>
          </a:solidFill>
          <a:ln w="9525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03200"/>
          <a:lstStyle/>
          <a:p>
            <a:pPr algn="ctr"/>
            <a:r>
              <a:rPr sz="2600" b="1">
                <a:solidFill>
                  <a:srgbClr val="2E75B6"/>
                </a:solidFill>
                <a:latin typeface="Calibri"/>
              </a:rPr>
              <a:t>5</a:t>
            </a:r>
          </a:p>
          <a:p>
            <a:pPr algn="ctr">
              <a:spcBef>
                <a:spcPts val="1000"/>
              </a:spcBef>
            </a:pPr>
            <a:r>
              <a:rPr b="1" sz="1400">
                <a:solidFill>
                  <a:srgbClr val="1F3864"/>
                </a:solidFill>
                <a:latin typeface="Calibri"/>
              </a:rPr>
              <a:t>Upgrade Incentives</a:t>
            </a:r>
          </a:p>
          <a:p>
            <a:pPr algn="ctr">
              <a:lnSpc>
                <a:spcPct val="115000"/>
              </a:lnSpc>
              <a:spcBef>
                <a:spcPts val="1000"/>
              </a:spcBef>
            </a:pPr>
            <a:r>
              <a:rPr sz="1100">
                <a:solidFill>
                  <a:srgbClr val="404040"/>
                </a:solidFill>
                <a:latin typeface="Calibri"/>
              </a:rPr>
              <a:t>Bundle add-on services (security, tech support) at a discount to raise switching costs and perceived value.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A0A0A0"/>
                </a:solidFill>
                <a:latin typeface="Calibri"/>
              </a:rPr>
              <a:t>Customer Churn Prediction &amp; Intelligent Retention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A0A0A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Conclusion &amp; Implementation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250">
                <a:solidFill>
                  <a:srgbClr val="DD8452"/>
                </a:solidFill>
                <a:latin typeface="Calibri"/>
              </a:rPr>
              <a:t>●  </a:t>
            </a:r>
            <a:r>
              <a:rPr b="1" sz="1550">
                <a:solidFill>
                  <a:srgbClr val="E4EAF5"/>
                </a:solidFill>
                <a:latin typeface="Calibri"/>
              </a:rPr>
              <a:t>XGBoost (Tuned) is production-ready: </a:t>
            </a:r>
            <a:r>
              <a:rPr sz="1550">
                <a:solidFill>
                  <a:srgbClr val="E4EAF5"/>
                </a:solidFill>
                <a:latin typeface="Calibri"/>
              </a:rPr>
              <a:t>ROC-AUC of 0.845 and Recall of 81.5% on held-out data, correctly identifying roughly 4 in 5 at-risk customers.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250">
                <a:solidFill>
                  <a:srgbClr val="DD8452"/>
                </a:solidFill>
                <a:latin typeface="Calibri"/>
              </a:rPr>
              <a:t>●  </a:t>
            </a:r>
            <a:r>
              <a:rPr b="1" sz="1550">
                <a:solidFill>
                  <a:srgbClr val="E4EAF5"/>
                </a:solidFill>
                <a:latin typeface="Calibri"/>
              </a:rPr>
              <a:t>Findings map directly to action: </a:t>
            </a:r>
            <a:r>
              <a:rPr sz="1550">
                <a:solidFill>
                  <a:srgbClr val="E4EAF5"/>
                </a:solidFill>
                <a:latin typeface="Calibri"/>
              </a:rPr>
              <a:t>contract type, tenure, and payment method are both the top predictive features and the top retention levers.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250">
                <a:solidFill>
                  <a:srgbClr val="DD8452"/>
                </a:solidFill>
                <a:latin typeface="Calibri"/>
              </a:rPr>
              <a:t>●  </a:t>
            </a:r>
            <a:r>
              <a:rPr b="1" sz="1550">
                <a:solidFill>
                  <a:srgbClr val="E4EAF5"/>
                </a:solidFill>
                <a:latin typeface="Calibri"/>
              </a:rPr>
              <a:t>The system closes the loop: </a:t>
            </a:r>
            <a:r>
              <a:rPr sz="1550">
                <a:solidFill>
                  <a:srgbClr val="E4EAF5"/>
                </a:solidFill>
                <a:latin typeface="Calibri"/>
              </a:rPr>
              <a:t>predict risk → intervene proactively → measure impact on churn rate over time.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94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5196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50">
                <a:solidFill>
                  <a:srgbClr val="DD8452"/>
                </a:solidFill>
                <a:latin typeface="Calibri"/>
              </a:rPr>
              <a:t>●  </a:t>
            </a:r>
            <a:r>
              <a:rPr sz="1450">
                <a:solidFill>
                  <a:srgbClr val="E4EAF5"/>
                </a:solidFill>
                <a:latin typeface="Calibri"/>
              </a:rPr>
              <a:t>Deploy the scoring pipeline into the CRM for real-time customer risk flags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50">
                <a:solidFill>
                  <a:srgbClr val="DD8452"/>
                </a:solidFill>
                <a:latin typeface="Calibri"/>
              </a:rPr>
              <a:t>●  </a:t>
            </a:r>
            <a:r>
              <a:rPr sz="1450">
                <a:solidFill>
                  <a:srgbClr val="E4EAF5"/>
                </a:solidFill>
                <a:latin typeface="Calibri"/>
              </a:rPr>
              <a:t>A/B test retention offers against model-identified risk segments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50">
                <a:solidFill>
                  <a:srgbClr val="DD8452"/>
                </a:solidFill>
                <a:latin typeface="Calibri"/>
              </a:rPr>
              <a:t>●  </a:t>
            </a:r>
            <a:r>
              <a:rPr sz="1450">
                <a:solidFill>
                  <a:srgbClr val="E4EAF5"/>
                </a:solidFill>
                <a:latin typeface="Calibri"/>
              </a:rPr>
              <a:t>Integrate Early Churn Alerts into the retention team's workflow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50">
                <a:solidFill>
                  <a:srgbClr val="DD8452"/>
                </a:solidFill>
                <a:latin typeface="Calibri"/>
              </a:rPr>
              <a:t>●  </a:t>
            </a:r>
            <a:r>
              <a:rPr sz="1450">
                <a:solidFill>
                  <a:srgbClr val="E4EAF5"/>
                </a:solidFill>
                <a:latin typeface="Calibri"/>
              </a:rPr>
              <a:t>Retrain the model periodically as customer behavior evolves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9FB0CC"/>
                </a:solidFill>
                <a:latin typeface="Calibri"/>
              </a:rPr>
              <a:t>Thank you  |  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